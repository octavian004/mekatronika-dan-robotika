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Impact" charset="1" panose="020B0806030902050204"/>
      <p:regular r:id="rId16"/>
    </p:embeddedFont>
    <p:embeddedFont>
      <p:font typeface="Clear Sans" charset="1" panose="020B0503030202020304"/>
      <p:regular r:id="rId17"/>
    </p:embeddedFont>
    <p:embeddedFont>
      <p:font typeface="Times New Roman" charset="1" panose="020206030504050203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0FAFF"/>
        </a:solidFill>
      </p:bgPr>
    </p:bg>
    <p:spTree>
      <p:nvGrpSpPr>
        <p:cNvPr id="1" name=""/>
        <p:cNvGrpSpPr/>
        <p:nvPr/>
      </p:nvGrpSpPr>
      <p:grpSpPr>
        <a:xfrm>
          <a:off x="0" y="0"/>
          <a:ext cx="0" cy="0"/>
          <a:chOff x="0" y="0"/>
          <a:chExt cx="0" cy="0"/>
        </a:xfrm>
      </p:grpSpPr>
      <p:sp>
        <p:nvSpPr>
          <p:cNvPr name="Freeform 2" id="2"/>
          <p:cNvSpPr/>
          <p:nvPr/>
        </p:nvSpPr>
        <p:spPr>
          <a:xfrm flipH="true" flipV="true" rot="0">
            <a:off x="-171306" y="9499384"/>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35223" y="9499384"/>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1306" y="8492855"/>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10800000">
            <a:off x="-171306" y="6479797"/>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171306" y="7486326"/>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true" rot="0">
            <a:off x="835223" y="6479797"/>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71306" y="5473268"/>
            <a:ext cx="2013058" cy="1006529"/>
          </a:xfrm>
          <a:custGeom>
            <a:avLst/>
            <a:gdLst/>
            <a:ahLst/>
            <a:cxnLst/>
            <a:rect r="r" b="b" t="t" l="l"/>
            <a:pathLst>
              <a:path h="1006529" w="2013058">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true" rot="-10800000">
            <a:off x="17500852" y="-203632"/>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10800000">
            <a:off x="15487794" y="-203632"/>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0800000">
            <a:off x="16494323" y="802897"/>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true" rot="0">
            <a:off x="17500852" y="2815955"/>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6494323" y="1809426"/>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true" rot="-10800000">
            <a:off x="16494323" y="2815955"/>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true" rot="0">
            <a:off x="16494323" y="3822484"/>
            <a:ext cx="2013058" cy="1006529"/>
          </a:xfrm>
          <a:custGeom>
            <a:avLst/>
            <a:gdLst/>
            <a:ahLst/>
            <a:cxnLst/>
            <a:rect r="r" b="b" t="t" l="l"/>
            <a:pathLst>
              <a:path h="1006529" w="2013058">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841752" y="8492855"/>
            <a:ext cx="1006529" cy="1006529"/>
          </a:xfrm>
          <a:custGeom>
            <a:avLst/>
            <a:gdLst/>
            <a:ahLst/>
            <a:cxnLst/>
            <a:rect r="r" b="b" t="t" l="l"/>
            <a:pathLst>
              <a:path h="1006529" w="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true" flipV="true" rot="0">
            <a:off x="15487794" y="802897"/>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true" flipV="false" rot="-10800000">
            <a:off x="1841752" y="7486326"/>
            <a:ext cx="1006529" cy="1006529"/>
          </a:xfrm>
          <a:custGeom>
            <a:avLst/>
            <a:gdLst/>
            <a:ahLst/>
            <a:cxnLst/>
            <a:rect r="r" b="b" t="t" l="l"/>
            <a:pathLst>
              <a:path h="1006529" w="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true" rot="-10800000">
            <a:off x="15487794" y="1809426"/>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0" id="20"/>
          <p:cNvSpPr txBox="true"/>
          <p:nvPr/>
        </p:nvSpPr>
        <p:spPr>
          <a:xfrm rot="0">
            <a:off x="2795003" y="3020470"/>
            <a:ext cx="12697994" cy="2874645"/>
          </a:xfrm>
          <a:prstGeom prst="rect">
            <a:avLst/>
          </a:prstGeom>
        </p:spPr>
        <p:txBody>
          <a:bodyPr anchor="t" rtlCol="false" tIns="0" lIns="0" bIns="0" rIns="0">
            <a:spAutoFit/>
          </a:bodyPr>
          <a:lstStyle/>
          <a:p>
            <a:pPr algn="ctr">
              <a:lnSpc>
                <a:spcPts val="9840"/>
              </a:lnSpc>
            </a:pPr>
            <a:r>
              <a:rPr lang="en-US" sz="12000">
                <a:solidFill>
                  <a:srgbClr val="262F43"/>
                </a:solidFill>
                <a:latin typeface="Impact"/>
                <a:ea typeface="Impact"/>
                <a:cs typeface="Impact"/>
                <a:sym typeface="Impact"/>
              </a:rPr>
              <a:t>PENGGUNAAN EASY EDA SEBAGAI DESIGN PCB</a:t>
            </a:r>
          </a:p>
        </p:txBody>
      </p:sp>
      <p:sp>
        <p:nvSpPr>
          <p:cNvPr name="TextBox 21" id="21"/>
          <p:cNvSpPr txBox="true"/>
          <p:nvPr/>
        </p:nvSpPr>
        <p:spPr>
          <a:xfrm rot="0">
            <a:off x="5739861" y="7042211"/>
            <a:ext cx="6808278" cy="824394"/>
          </a:xfrm>
          <a:prstGeom prst="rect">
            <a:avLst/>
          </a:prstGeom>
        </p:spPr>
        <p:txBody>
          <a:bodyPr anchor="t" rtlCol="false" tIns="0" lIns="0" bIns="0" rIns="0">
            <a:spAutoFit/>
          </a:bodyPr>
          <a:lstStyle/>
          <a:p>
            <a:pPr algn="ctr">
              <a:lnSpc>
                <a:spcPts val="3206"/>
              </a:lnSpc>
            </a:pPr>
            <a:r>
              <a:rPr lang="en-US" sz="3206">
                <a:solidFill>
                  <a:srgbClr val="262F43"/>
                </a:solidFill>
                <a:latin typeface="Clear Sans"/>
                <a:ea typeface="Clear Sans"/>
                <a:cs typeface="Clear Sans"/>
                <a:sym typeface="Clear Sans"/>
              </a:rPr>
              <a:t>Presented By Andhika Octavian (40040323630045)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0FAFF"/>
        </a:solidFill>
      </p:bgPr>
    </p:bg>
    <p:spTree>
      <p:nvGrpSpPr>
        <p:cNvPr id="1" name=""/>
        <p:cNvGrpSpPr/>
        <p:nvPr/>
      </p:nvGrpSpPr>
      <p:grpSpPr>
        <a:xfrm>
          <a:off x="0" y="0"/>
          <a:ext cx="0" cy="0"/>
          <a:chOff x="0" y="0"/>
          <a:chExt cx="0" cy="0"/>
        </a:xfrm>
      </p:grpSpPr>
      <p:sp>
        <p:nvSpPr>
          <p:cNvPr name="Freeform 2" id="2"/>
          <p:cNvSpPr/>
          <p:nvPr/>
        </p:nvSpPr>
        <p:spPr>
          <a:xfrm flipH="true" flipV="true" rot="0">
            <a:off x="-171306" y="9499384"/>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35223" y="9499384"/>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1306" y="8492855"/>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10800000">
            <a:off x="-171306" y="6479797"/>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171306" y="7486326"/>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true" rot="0">
            <a:off x="835223" y="6479797"/>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71306" y="5473268"/>
            <a:ext cx="2013058" cy="1006529"/>
          </a:xfrm>
          <a:custGeom>
            <a:avLst/>
            <a:gdLst/>
            <a:ahLst/>
            <a:cxnLst/>
            <a:rect r="r" b="b" t="t" l="l"/>
            <a:pathLst>
              <a:path h="1006529" w="2013058">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true" rot="-10800000">
            <a:off x="17500852" y="-203632"/>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10800000">
            <a:off x="15487794" y="-203632"/>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0800000">
            <a:off x="16494323" y="802897"/>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true" rot="0">
            <a:off x="17500852" y="2815955"/>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6494323" y="1809426"/>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true" rot="-10800000">
            <a:off x="16494323" y="2815955"/>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true" rot="0">
            <a:off x="16494323" y="3822484"/>
            <a:ext cx="2013058" cy="1006529"/>
          </a:xfrm>
          <a:custGeom>
            <a:avLst/>
            <a:gdLst/>
            <a:ahLst/>
            <a:cxnLst/>
            <a:rect r="r" b="b" t="t" l="l"/>
            <a:pathLst>
              <a:path h="1006529" w="2013058">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841752" y="8492855"/>
            <a:ext cx="1006529" cy="1006529"/>
          </a:xfrm>
          <a:custGeom>
            <a:avLst/>
            <a:gdLst/>
            <a:ahLst/>
            <a:cxnLst/>
            <a:rect r="r" b="b" t="t" l="l"/>
            <a:pathLst>
              <a:path h="1006529" w="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true" flipV="true" rot="0">
            <a:off x="15487794" y="802897"/>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true" flipV="false" rot="-10800000">
            <a:off x="1841752" y="7486326"/>
            <a:ext cx="1006529" cy="1006529"/>
          </a:xfrm>
          <a:custGeom>
            <a:avLst/>
            <a:gdLst/>
            <a:ahLst/>
            <a:cxnLst/>
            <a:rect r="r" b="b" t="t" l="l"/>
            <a:pathLst>
              <a:path h="1006529" w="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true" rot="-10800000">
            <a:off x="15487794" y="1809426"/>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0" id="20"/>
          <p:cNvSpPr txBox="true"/>
          <p:nvPr/>
        </p:nvSpPr>
        <p:spPr>
          <a:xfrm rot="0">
            <a:off x="3970882" y="344481"/>
            <a:ext cx="10085565" cy="3082290"/>
          </a:xfrm>
          <a:prstGeom prst="rect">
            <a:avLst/>
          </a:prstGeom>
        </p:spPr>
        <p:txBody>
          <a:bodyPr anchor="t" rtlCol="false" tIns="0" lIns="0" bIns="0" rIns="0">
            <a:spAutoFit/>
          </a:bodyPr>
          <a:lstStyle/>
          <a:p>
            <a:pPr algn="ctr">
              <a:lnSpc>
                <a:spcPts val="7380"/>
              </a:lnSpc>
            </a:pPr>
            <a:r>
              <a:rPr lang="en-US" sz="9000">
                <a:solidFill>
                  <a:srgbClr val="262F43"/>
                </a:solidFill>
                <a:latin typeface="Impact"/>
                <a:ea typeface="Impact"/>
                <a:cs typeface="Impact"/>
                <a:sym typeface="Impact"/>
              </a:rPr>
              <a:t>APA ITU PCB DAN KEGUNAANYA DALAM SISTEM ELEKTRONIK</a:t>
            </a:r>
          </a:p>
        </p:txBody>
      </p:sp>
      <p:sp>
        <p:nvSpPr>
          <p:cNvPr name="TextBox 21" id="21"/>
          <p:cNvSpPr txBox="true"/>
          <p:nvPr/>
        </p:nvSpPr>
        <p:spPr>
          <a:xfrm rot="0">
            <a:off x="3163603" y="3271595"/>
            <a:ext cx="12827455" cy="7574198"/>
          </a:xfrm>
          <a:prstGeom prst="rect">
            <a:avLst/>
          </a:prstGeom>
        </p:spPr>
        <p:txBody>
          <a:bodyPr anchor="t" rtlCol="false" tIns="0" lIns="0" bIns="0" rIns="0">
            <a:spAutoFit/>
          </a:bodyPr>
          <a:lstStyle/>
          <a:p>
            <a:pPr algn="just">
              <a:lnSpc>
                <a:spcPts val="2800"/>
              </a:lnSpc>
            </a:pPr>
            <a:r>
              <a:rPr lang="en-US" sz="2000">
                <a:solidFill>
                  <a:srgbClr val="262F43"/>
                </a:solidFill>
                <a:latin typeface="Clear Sans"/>
                <a:ea typeface="Clear Sans"/>
                <a:cs typeface="Clear Sans"/>
                <a:sym typeface="Clear Sans"/>
              </a:rPr>
              <a:t>PCB (Printed Circuit Board) adalah papan rangkaian tercetak yang digunakan sebagai media untuk menghubungkan dan menopang komponen-komponen elektronik dalam suatu sistem. PCB terbuat dari bahan isolator seperti fiberglass yang dilapisi jalur konduktor (biasanya tembaga) yang dicetak sesuai desain rangkaian, sehingga arus listrik dapat mengalir dan menghubungkan komponen seperti resistor, kapasitor, transistor, dan IC secara rapi dan efisien. Dalam sistem elektronik, PCB berfungsi untuk menyusun rangkaian agar lebih terorganisir, mengurangi kesalahan pemasangan kabel, meningkatkan keandalan, serta mempermudah perawatan dan produksi massal. PCB digunakan hampir di semua perangkat elektronik modern, seperti komputer, televisi, ponsel, dan peralatan industri, karena mampu membuat rangkaian menjadi lebih ringkas, stabil, dan tahan lama dibandingkan dengan perakitan kabel manual.</a:t>
            </a:r>
          </a:p>
          <a:p>
            <a:pPr algn="just">
              <a:lnSpc>
                <a:spcPts val="2800"/>
              </a:lnSpc>
            </a:pPr>
          </a:p>
          <a:p>
            <a:pPr algn="just">
              <a:lnSpc>
                <a:spcPts val="2800"/>
              </a:lnSpc>
            </a:pPr>
            <a:r>
              <a:rPr lang="en-US" sz="2000">
                <a:solidFill>
                  <a:srgbClr val="262F43"/>
                </a:solidFill>
                <a:latin typeface="Clear Sans"/>
                <a:ea typeface="Clear Sans"/>
                <a:cs typeface="Clear Sans"/>
                <a:sym typeface="Clear Sans"/>
              </a:rPr>
              <a:t>Dalam bidang robotika, PCB (Printed Circuit Board) berperan sebagai pusat penghubung dan pengendali seluruh sistem elektronik robot. PCB digunakan untuk memasang dan menghubungkan mikrokontroler, sensor, aktuator, motor driver, modul komunikasi, serta catu daya dalam satu rangkaian yang terintegrasi dan rapi. Dengan adanya PCB, sistem robot menjadi lebih stabil, ringkas, dan tahan terhadap getaran atau gangguan listrik dibandingkan dengan rangkaian kabel biasa. Pada robot, PCB berfungsi untuk mengatur aliran daya ke motor, membaca data dari sensor (seperti sensor jarak, cahaya, atau suhu), serta memproses perintah melalui mikrokontroler untuk menghasilkan gerakan atau respons tertentu. Selain itu, penggunaan PCB juga mempermudah proses perakitan, perawatan, dan pengembangan robot, terutama dalam produksi skala besar maupun proyek penelitian, karena desainnya dapat disesuaikan dengan kebutuhan sistem robot yang dibuat.</a:t>
            </a:r>
          </a:p>
          <a:p>
            <a:pPr algn="just">
              <a:lnSpc>
                <a:spcPts val="2800"/>
              </a:lnSpc>
            </a:pPr>
          </a:p>
          <a:p>
            <a:pPr algn="just">
              <a:lnSpc>
                <a:spcPts val="4349"/>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0FAFF"/>
        </a:solidFill>
      </p:bgPr>
    </p:bg>
    <p:spTree>
      <p:nvGrpSpPr>
        <p:cNvPr id="1" name=""/>
        <p:cNvGrpSpPr/>
        <p:nvPr/>
      </p:nvGrpSpPr>
      <p:grpSpPr>
        <a:xfrm>
          <a:off x="0" y="0"/>
          <a:ext cx="0" cy="0"/>
          <a:chOff x="0" y="0"/>
          <a:chExt cx="0" cy="0"/>
        </a:xfrm>
      </p:grpSpPr>
      <p:sp>
        <p:nvSpPr>
          <p:cNvPr name="Freeform 2" id="2"/>
          <p:cNvSpPr/>
          <p:nvPr/>
        </p:nvSpPr>
        <p:spPr>
          <a:xfrm flipH="true" flipV="true" rot="0">
            <a:off x="-171306" y="9499384"/>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35223" y="9499384"/>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1306" y="8492855"/>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10800000">
            <a:off x="-171306" y="6479797"/>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171306" y="7486326"/>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true" rot="0">
            <a:off x="835223" y="6479797"/>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71306" y="5473268"/>
            <a:ext cx="2013058" cy="1006529"/>
          </a:xfrm>
          <a:custGeom>
            <a:avLst/>
            <a:gdLst/>
            <a:ahLst/>
            <a:cxnLst/>
            <a:rect r="r" b="b" t="t" l="l"/>
            <a:pathLst>
              <a:path h="1006529" w="2013058">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true" rot="-10800000">
            <a:off x="17500852" y="-203632"/>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10800000">
            <a:off x="15487794" y="-203632"/>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0800000">
            <a:off x="16494323" y="802897"/>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true" rot="0">
            <a:off x="17500852" y="2815955"/>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6494323" y="1809426"/>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true" rot="-10800000">
            <a:off x="16494323" y="2815955"/>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true" rot="0">
            <a:off x="16494323" y="3822484"/>
            <a:ext cx="2013058" cy="1006529"/>
          </a:xfrm>
          <a:custGeom>
            <a:avLst/>
            <a:gdLst/>
            <a:ahLst/>
            <a:cxnLst/>
            <a:rect r="r" b="b" t="t" l="l"/>
            <a:pathLst>
              <a:path h="1006529" w="2013058">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841752" y="8492855"/>
            <a:ext cx="1006529" cy="1006529"/>
          </a:xfrm>
          <a:custGeom>
            <a:avLst/>
            <a:gdLst/>
            <a:ahLst/>
            <a:cxnLst/>
            <a:rect r="r" b="b" t="t" l="l"/>
            <a:pathLst>
              <a:path h="1006529" w="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true" flipV="true" rot="0">
            <a:off x="15487794" y="802897"/>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true" flipV="false" rot="-10800000">
            <a:off x="1841752" y="7486326"/>
            <a:ext cx="1006529" cy="1006529"/>
          </a:xfrm>
          <a:custGeom>
            <a:avLst/>
            <a:gdLst/>
            <a:ahLst/>
            <a:cxnLst/>
            <a:rect r="r" b="b" t="t" l="l"/>
            <a:pathLst>
              <a:path h="1006529" w="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true" rot="-10800000">
            <a:off x="15487794" y="1809426"/>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0" id="20"/>
          <p:cNvSpPr txBox="true"/>
          <p:nvPr/>
        </p:nvSpPr>
        <p:spPr>
          <a:xfrm rot="0">
            <a:off x="4326495" y="791738"/>
            <a:ext cx="9726368" cy="2738756"/>
          </a:xfrm>
          <a:prstGeom prst="rect">
            <a:avLst/>
          </a:prstGeom>
        </p:spPr>
        <p:txBody>
          <a:bodyPr anchor="t" rtlCol="false" tIns="0" lIns="0" bIns="0" rIns="0">
            <a:spAutoFit/>
          </a:bodyPr>
          <a:lstStyle/>
          <a:p>
            <a:pPr algn="ctr">
              <a:lnSpc>
                <a:spcPts val="6560"/>
              </a:lnSpc>
            </a:pPr>
            <a:r>
              <a:rPr lang="en-US" sz="8000">
                <a:solidFill>
                  <a:srgbClr val="262F43"/>
                </a:solidFill>
                <a:latin typeface="Impact"/>
                <a:ea typeface="Impact"/>
                <a:cs typeface="Impact"/>
                <a:sym typeface="Impact"/>
              </a:rPr>
              <a:t>PERBEDAAN SINGLE LAYER, DOUBLE LAYER, DAN MULTILAYER PADA PCB</a:t>
            </a:r>
          </a:p>
        </p:txBody>
      </p:sp>
      <p:sp>
        <p:nvSpPr>
          <p:cNvPr name="TextBox 21" id="21"/>
          <p:cNvSpPr txBox="true"/>
          <p:nvPr/>
        </p:nvSpPr>
        <p:spPr>
          <a:xfrm rot="0">
            <a:off x="2988133" y="3473344"/>
            <a:ext cx="12622355" cy="6318885"/>
          </a:xfrm>
          <a:prstGeom prst="rect">
            <a:avLst/>
          </a:prstGeom>
        </p:spPr>
        <p:txBody>
          <a:bodyPr anchor="t" rtlCol="false" tIns="0" lIns="0" bIns="0" rIns="0">
            <a:spAutoFit/>
          </a:bodyPr>
          <a:lstStyle/>
          <a:p>
            <a:pPr algn="just">
              <a:lnSpc>
                <a:spcPts val="2939"/>
              </a:lnSpc>
            </a:pPr>
            <a:r>
              <a:rPr lang="en-US" sz="2099">
                <a:solidFill>
                  <a:srgbClr val="262F43"/>
                </a:solidFill>
                <a:latin typeface="Times New Roman"/>
                <a:ea typeface="Times New Roman"/>
                <a:cs typeface="Times New Roman"/>
                <a:sym typeface="Times New Roman"/>
              </a:rPr>
              <a:t>Single layer PCB adalah papan rangkaian yang hanya memiliki satu lapisan tembaga pada satu sisi saja. Semua jalur rangkaian berada di satu permukaan, sedangkan sisi lainnya biasanya hanya sebagai penopang komponen. Jenis ini paling sederhana dan biaya produksinya paling murah. Biasanya digunakan pada rangkaian elektronik sederhana seperti kalkulator, mainan elektronik, atau perangkat rumah tangga sederhana. Namun, karena hanya memiliki satu jalur lapisan, desainnya terbatas dan kurang cocok untuk rangkaian yang kompleks.</a:t>
            </a:r>
          </a:p>
          <a:p>
            <a:pPr algn="just">
              <a:lnSpc>
                <a:spcPts val="2939"/>
              </a:lnSpc>
            </a:pPr>
          </a:p>
          <a:p>
            <a:pPr algn="just">
              <a:lnSpc>
                <a:spcPts val="2939"/>
              </a:lnSpc>
            </a:pPr>
            <a:r>
              <a:rPr lang="en-US" sz="2099">
                <a:solidFill>
                  <a:srgbClr val="262F43"/>
                </a:solidFill>
                <a:latin typeface="Times New Roman"/>
                <a:ea typeface="Times New Roman"/>
                <a:cs typeface="Times New Roman"/>
                <a:sym typeface="Times New Roman"/>
              </a:rPr>
              <a:t>Double layer PCB memiliki dua lapisan tembaga, yaitu di sisi atas dan bawah papan. Kedua lapisan ini dihubungkan menggunakan lubang kecil berlapis tembaga yang disebut via. Dengan dua lapisan, jalur rangkaian bisa lebih fleksibel dan kompleks dibandingkan single layer. Jenis ini sering digunakan pada perangkat elektronik menengah seperti sistem kontrol, power supply, dan beberapa modul robotika. Biayanya lebih mahal dari single layer, tetapi performa dan fleksibilitas desainnya lebih baik.</a:t>
            </a:r>
          </a:p>
          <a:p>
            <a:pPr algn="just">
              <a:lnSpc>
                <a:spcPts val="2939"/>
              </a:lnSpc>
            </a:pPr>
          </a:p>
          <a:p>
            <a:pPr algn="just">
              <a:lnSpc>
                <a:spcPts val="2939"/>
              </a:lnSpc>
            </a:pPr>
            <a:r>
              <a:rPr lang="en-US" sz="2099">
                <a:solidFill>
                  <a:srgbClr val="262F43"/>
                </a:solidFill>
                <a:latin typeface="Times New Roman"/>
                <a:ea typeface="Times New Roman"/>
                <a:cs typeface="Times New Roman"/>
                <a:sym typeface="Times New Roman"/>
              </a:rPr>
              <a:t>Multilayer PCB terdiri dari lebih dari dua lapisan tembaga (misalnya 4, 6, 8 lapisan atau lebih) yang disusun berlapis-lapis di dalam satu papan. Lapisan dalam biasanya digunakan untuk jalur sinyal, ground, dan power agar performa lebih stabil dan gangguan (noise) berkurang. Multilayer PCB digunakan pada perangkat elektronik kompleks seperti komputer, smartphone, sistem industri, dan robot canggih. Kelebihannya adalah mampu menampung rangkaian sangat padat dengan performa tinggi, namun biaya produksi dan proses pembuatannya lebih rumit.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0FAFF"/>
        </a:solidFill>
      </p:bgPr>
    </p:bg>
    <p:spTree>
      <p:nvGrpSpPr>
        <p:cNvPr id="1" name=""/>
        <p:cNvGrpSpPr/>
        <p:nvPr/>
      </p:nvGrpSpPr>
      <p:grpSpPr>
        <a:xfrm>
          <a:off x="0" y="0"/>
          <a:ext cx="0" cy="0"/>
          <a:chOff x="0" y="0"/>
          <a:chExt cx="0" cy="0"/>
        </a:xfrm>
      </p:grpSpPr>
      <p:sp>
        <p:nvSpPr>
          <p:cNvPr name="Freeform 2" id="2"/>
          <p:cNvSpPr/>
          <p:nvPr/>
        </p:nvSpPr>
        <p:spPr>
          <a:xfrm flipH="true" flipV="true" rot="0">
            <a:off x="-171306" y="9499384"/>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35223" y="9499384"/>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1306" y="8492855"/>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10800000">
            <a:off x="-171306" y="6479797"/>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171306" y="7486326"/>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true" rot="0">
            <a:off x="835223" y="6479797"/>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71306" y="5473268"/>
            <a:ext cx="2013058" cy="1006529"/>
          </a:xfrm>
          <a:custGeom>
            <a:avLst/>
            <a:gdLst/>
            <a:ahLst/>
            <a:cxnLst/>
            <a:rect r="r" b="b" t="t" l="l"/>
            <a:pathLst>
              <a:path h="1006529" w="2013058">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true" rot="-10800000">
            <a:off x="17500852" y="-203632"/>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10800000">
            <a:off x="15487794" y="-203632"/>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0800000">
            <a:off x="16494323" y="802897"/>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true" rot="0">
            <a:off x="17500852" y="2815955"/>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6494323" y="1809426"/>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true" rot="-10800000">
            <a:off x="16494323" y="2815955"/>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true" rot="0">
            <a:off x="16494323" y="3822484"/>
            <a:ext cx="2013058" cy="1006529"/>
          </a:xfrm>
          <a:custGeom>
            <a:avLst/>
            <a:gdLst/>
            <a:ahLst/>
            <a:cxnLst/>
            <a:rect r="r" b="b" t="t" l="l"/>
            <a:pathLst>
              <a:path h="1006529" w="2013058">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841752" y="8492855"/>
            <a:ext cx="1006529" cy="1006529"/>
          </a:xfrm>
          <a:custGeom>
            <a:avLst/>
            <a:gdLst/>
            <a:ahLst/>
            <a:cxnLst/>
            <a:rect r="r" b="b" t="t" l="l"/>
            <a:pathLst>
              <a:path h="1006529" w="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true" flipV="true" rot="0">
            <a:off x="15487794" y="802897"/>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true" flipV="false" rot="-10800000">
            <a:off x="1841752" y="7486326"/>
            <a:ext cx="1006529" cy="1006529"/>
          </a:xfrm>
          <a:custGeom>
            <a:avLst/>
            <a:gdLst/>
            <a:ahLst/>
            <a:cxnLst/>
            <a:rect r="r" b="b" t="t" l="l"/>
            <a:pathLst>
              <a:path h="1006529" w="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true" rot="-10800000">
            <a:off x="15487794" y="1809426"/>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0" id="20"/>
          <p:cNvSpPr txBox="true"/>
          <p:nvPr/>
        </p:nvSpPr>
        <p:spPr>
          <a:xfrm rot="0">
            <a:off x="4180321" y="1200150"/>
            <a:ext cx="9159943" cy="1349374"/>
          </a:xfrm>
          <a:prstGeom prst="rect">
            <a:avLst/>
          </a:prstGeom>
        </p:spPr>
        <p:txBody>
          <a:bodyPr anchor="t" rtlCol="false" tIns="0" lIns="0" bIns="0" rIns="0">
            <a:spAutoFit/>
          </a:bodyPr>
          <a:lstStyle/>
          <a:p>
            <a:pPr algn="ctr">
              <a:lnSpc>
                <a:spcPts val="8199"/>
              </a:lnSpc>
            </a:pPr>
            <a:r>
              <a:rPr lang="en-US" sz="9999">
                <a:solidFill>
                  <a:srgbClr val="262F43"/>
                </a:solidFill>
                <a:latin typeface="Impact"/>
                <a:ea typeface="Impact"/>
                <a:cs typeface="Impact"/>
                <a:sym typeface="Impact"/>
              </a:rPr>
              <a:t>MATERIAL FR4</a:t>
            </a:r>
          </a:p>
        </p:txBody>
      </p:sp>
      <p:sp>
        <p:nvSpPr>
          <p:cNvPr name="TextBox 21" id="21"/>
          <p:cNvSpPr txBox="true"/>
          <p:nvPr/>
        </p:nvSpPr>
        <p:spPr>
          <a:xfrm rot="0">
            <a:off x="3200146" y="3063856"/>
            <a:ext cx="12506878" cy="6390005"/>
          </a:xfrm>
          <a:prstGeom prst="rect">
            <a:avLst/>
          </a:prstGeom>
        </p:spPr>
        <p:txBody>
          <a:bodyPr anchor="t" rtlCol="false" tIns="0" lIns="0" bIns="0" rIns="0">
            <a:spAutoFit/>
          </a:bodyPr>
          <a:lstStyle/>
          <a:p>
            <a:pPr algn="just">
              <a:lnSpc>
                <a:spcPts val="3220"/>
              </a:lnSpc>
            </a:pPr>
            <a:r>
              <a:rPr lang="en-US" sz="2300">
                <a:solidFill>
                  <a:srgbClr val="262F43"/>
                </a:solidFill>
                <a:latin typeface="Clear Sans"/>
                <a:ea typeface="Clear Sans"/>
                <a:cs typeface="Clear Sans"/>
                <a:sym typeface="Clear Sans"/>
              </a:rPr>
              <a:t>FR4 adalah material paling umum yang digunakan sebagai bahan dasar PCB (Printed Circuit Board). FR4 merupakan singkatan dari Flame Retardant 4, yaitu bahan berbasis serat kaca (fiberglass) yang diperkuat dengan resin epoksi dan memiliki sifat tahan api. Material ini berfungsi sebagai substrat (lapisan isolator) yang menopang jalur tembaga pada PCB sekaligus mengisolasi arus listrik agar tidak terjadi hubungan pendek antarjalur.</a:t>
            </a:r>
          </a:p>
          <a:p>
            <a:pPr algn="just">
              <a:lnSpc>
                <a:spcPts val="3220"/>
              </a:lnSpc>
            </a:pPr>
            <a:r>
              <a:rPr lang="en-US" sz="2300">
                <a:solidFill>
                  <a:srgbClr val="262F43"/>
                </a:solidFill>
                <a:latin typeface="Clear Sans"/>
                <a:ea typeface="Clear Sans"/>
                <a:cs typeface="Clear Sans"/>
                <a:sym typeface="Clear Sans"/>
              </a:rPr>
              <a:t>FR4 memiliki beberapa karakteristik utama, yaitu kuat secara mekanis, tahan panas, tidak mudah terbakar, serta memiliki sifat isolasi listrik yang baik. Karena itu, FR4 sangat cocok digunakan pada berbagai perangkat elektronik mulai dari rangkaian sederhana hingga sistem kompleks seperti komputer, perangkat industri, dan robotika. Selain itu, FR4 juga relatif ekonomis dan mudah diproduksi dalam berbagai ketebalan (misalnya 0,8 mm, 1,6 mm, dan 2 mm), sehingga menjadi standar industri dalam pembuatan PCB.</a:t>
            </a:r>
          </a:p>
          <a:p>
            <a:pPr algn="just">
              <a:lnSpc>
                <a:spcPts val="3220"/>
              </a:lnSpc>
            </a:pPr>
            <a:r>
              <a:rPr lang="en-US" sz="2300">
                <a:solidFill>
                  <a:srgbClr val="262F43"/>
                </a:solidFill>
                <a:latin typeface="Clear Sans"/>
                <a:ea typeface="Clear Sans"/>
                <a:cs typeface="Clear Sans"/>
                <a:sym typeface="Clear Sans"/>
              </a:rPr>
              <a:t>Secara umum, kelebihan FR4 adalah stabil, kuat, dan tahan terhadap suhu soldering, sedangkan kekurangannya adalah kurang optimal untuk aplikasi frekuensi sangat tinggi dibandingkan material khusus seperti Rogers. Namun, untuk sebagian besar aplikasi elektronik umum, FR4 sudah sangat memadai dan menjadi pilihan utama.</a:t>
            </a:r>
          </a:p>
          <a:p>
            <a:pPr algn="just">
              <a:lnSpc>
                <a:spcPts val="3220"/>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0FAFF"/>
        </a:solidFill>
      </p:bgPr>
    </p:bg>
    <p:spTree>
      <p:nvGrpSpPr>
        <p:cNvPr id="1" name=""/>
        <p:cNvGrpSpPr/>
        <p:nvPr/>
      </p:nvGrpSpPr>
      <p:grpSpPr>
        <a:xfrm>
          <a:off x="0" y="0"/>
          <a:ext cx="0" cy="0"/>
          <a:chOff x="0" y="0"/>
          <a:chExt cx="0" cy="0"/>
        </a:xfrm>
      </p:grpSpPr>
      <p:sp>
        <p:nvSpPr>
          <p:cNvPr name="Freeform 2" id="2"/>
          <p:cNvSpPr/>
          <p:nvPr/>
        </p:nvSpPr>
        <p:spPr>
          <a:xfrm flipH="true" flipV="true" rot="0">
            <a:off x="-171306" y="9499384"/>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35223" y="9499384"/>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1306" y="8492855"/>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10800000">
            <a:off x="-171306" y="6479797"/>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171306" y="7486326"/>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true" rot="0">
            <a:off x="835223" y="6479797"/>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71306" y="5473268"/>
            <a:ext cx="2013058" cy="1006529"/>
          </a:xfrm>
          <a:custGeom>
            <a:avLst/>
            <a:gdLst/>
            <a:ahLst/>
            <a:cxnLst/>
            <a:rect r="r" b="b" t="t" l="l"/>
            <a:pathLst>
              <a:path h="1006529" w="2013058">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true" rot="-10800000">
            <a:off x="17500852" y="-203632"/>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10800000">
            <a:off x="15487794" y="-203632"/>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0800000">
            <a:off x="16494323" y="802897"/>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true" rot="0">
            <a:off x="17500852" y="2815955"/>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6494323" y="1809426"/>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true" rot="-10800000">
            <a:off x="16494323" y="2815955"/>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true" rot="0">
            <a:off x="16494323" y="3822484"/>
            <a:ext cx="2013058" cy="1006529"/>
          </a:xfrm>
          <a:custGeom>
            <a:avLst/>
            <a:gdLst/>
            <a:ahLst/>
            <a:cxnLst/>
            <a:rect r="r" b="b" t="t" l="l"/>
            <a:pathLst>
              <a:path h="1006529" w="2013058">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841752" y="8492855"/>
            <a:ext cx="1006529" cy="1006529"/>
          </a:xfrm>
          <a:custGeom>
            <a:avLst/>
            <a:gdLst/>
            <a:ahLst/>
            <a:cxnLst/>
            <a:rect r="r" b="b" t="t" l="l"/>
            <a:pathLst>
              <a:path h="1006529" w="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true" flipV="true" rot="0">
            <a:off x="15487794" y="802897"/>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true" flipV="false" rot="-10800000">
            <a:off x="1841752" y="7486326"/>
            <a:ext cx="1006529" cy="1006529"/>
          </a:xfrm>
          <a:custGeom>
            <a:avLst/>
            <a:gdLst/>
            <a:ahLst/>
            <a:cxnLst/>
            <a:rect r="r" b="b" t="t" l="l"/>
            <a:pathLst>
              <a:path h="1006529" w="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true" rot="-10800000">
            <a:off x="15487794" y="1809426"/>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0" id="20"/>
          <p:cNvSpPr txBox="true"/>
          <p:nvPr/>
        </p:nvSpPr>
        <p:spPr>
          <a:xfrm rot="0">
            <a:off x="3255969" y="1200150"/>
            <a:ext cx="11206383" cy="1349374"/>
          </a:xfrm>
          <a:prstGeom prst="rect">
            <a:avLst/>
          </a:prstGeom>
        </p:spPr>
        <p:txBody>
          <a:bodyPr anchor="t" rtlCol="false" tIns="0" lIns="0" bIns="0" rIns="0">
            <a:spAutoFit/>
          </a:bodyPr>
          <a:lstStyle/>
          <a:p>
            <a:pPr algn="ctr">
              <a:lnSpc>
                <a:spcPts val="8199"/>
              </a:lnSpc>
            </a:pPr>
            <a:r>
              <a:rPr lang="en-US" sz="9999">
                <a:solidFill>
                  <a:srgbClr val="262F43"/>
                </a:solidFill>
                <a:latin typeface="Impact"/>
                <a:ea typeface="Impact"/>
                <a:cs typeface="Impact"/>
                <a:sym typeface="Impact"/>
              </a:rPr>
              <a:t>KETEBALAN COPPER (OZ)</a:t>
            </a:r>
          </a:p>
        </p:txBody>
      </p:sp>
      <p:sp>
        <p:nvSpPr>
          <p:cNvPr name="TextBox 21" id="21"/>
          <p:cNvSpPr txBox="true"/>
          <p:nvPr/>
        </p:nvSpPr>
        <p:spPr>
          <a:xfrm rot="0">
            <a:off x="3510646" y="2957743"/>
            <a:ext cx="10697030" cy="5989955"/>
          </a:xfrm>
          <a:prstGeom prst="rect">
            <a:avLst/>
          </a:prstGeom>
        </p:spPr>
        <p:txBody>
          <a:bodyPr anchor="t" rtlCol="false" tIns="0" lIns="0" bIns="0" rIns="0">
            <a:spAutoFit/>
          </a:bodyPr>
          <a:lstStyle/>
          <a:p>
            <a:pPr algn="just">
              <a:lnSpc>
                <a:spcPts val="3220"/>
              </a:lnSpc>
            </a:pPr>
            <a:r>
              <a:rPr lang="en-US" sz="2300">
                <a:solidFill>
                  <a:srgbClr val="262F43"/>
                </a:solidFill>
                <a:latin typeface="Clear Sans"/>
                <a:ea typeface="Clear Sans"/>
                <a:cs typeface="Clear Sans"/>
                <a:sym typeface="Clear Sans"/>
              </a:rPr>
              <a:t>Ketebalan copper (oz) pada PCB adalah ukuran berat tembaga per satuan luas yang dinyatakan dalam ounce per square foot (oz/ft²), di mana 1 oz berarti sekitar 28,35 gram tembaga yang diratakan pada area 1 square foot dan menghasilkan ketebalan sekitar 35 mikrometer (µm). Dalam praktiknya, ketebalan yang umum digunakan adalah 0,5 oz (±17 µm), 1 oz (±35 µm), 2 oz (±70 µm), hingga 3 oz (±105 µm). Semakin besar nilai oz, semakin tebal lapisan tembaga pada PCB, sehingga kemampuan menghantarkan arus listrik menjadi lebih tinggi, jalur (trace) lebih kuat secara mekanis, dan distribusi panas lebih baik. Namun, penggunaan copper yang lebih tebal juga meningkatkan biaya produksi dan dapat memengaruhi detail desain jalur yang kecil. Oleh karena itu, pemilihan ketebalan copper harus disesuaikan dengan kebutuhan arus, manajemen panas, serta jenis aplikasi, misalnya 1 oz untuk rangkaian elektronik umum dan 2 oz atau lebih untuk sistem dengan arus besar seperti power supply atau motor driver.</a:t>
            </a:r>
          </a:p>
          <a:p>
            <a:pPr algn="just">
              <a:lnSpc>
                <a:spcPts val="322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0FAFF"/>
        </a:solidFill>
      </p:bgPr>
    </p:bg>
    <p:spTree>
      <p:nvGrpSpPr>
        <p:cNvPr id="1" name=""/>
        <p:cNvGrpSpPr/>
        <p:nvPr/>
      </p:nvGrpSpPr>
      <p:grpSpPr>
        <a:xfrm>
          <a:off x="0" y="0"/>
          <a:ext cx="0" cy="0"/>
          <a:chOff x="0" y="0"/>
          <a:chExt cx="0" cy="0"/>
        </a:xfrm>
      </p:grpSpPr>
      <p:sp>
        <p:nvSpPr>
          <p:cNvPr name="Freeform 2" id="2"/>
          <p:cNvSpPr/>
          <p:nvPr/>
        </p:nvSpPr>
        <p:spPr>
          <a:xfrm flipH="true" flipV="true" rot="0">
            <a:off x="-171306" y="9499384"/>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35223" y="9499384"/>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1306" y="8492855"/>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10800000">
            <a:off x="-171306" y="6479797"/>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171306" y="7486326"/>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true" rot="0">
            <a:off x="835223" y="6479797"/>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71306" y="5473268"/>
            <a:ext cx="2013058" cy="1006529"/>
          </a:xfrm>
          <a:custGeom>
            <a:avLst/>
            <a:gdLst/>
            <a:ahLst/>
            <a:cxnLst/>
            <a:rect r="r" b="b" t="t" l="l"/>
            <a:pathLst>
              <a:path h="1006529" w="2013058">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true" rot="-10800000">
            <a:off x="17500852" y="-203632"/>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10800000">
            <a:off x="15487794" y="-203632"/>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0800000">
            <a:off x="16494323" y="802897"/>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true" rot="0">
            <a:off x="17500852" y="2815955"/>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6494323" y="1809426"/>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true" rot="-10800000">
            <a:off x="16494323" y="2815955"/>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true" rot="0">
            <a:off x="16494323" y="3822484"/>
            <a:ext cx="2013058" cy="1006529"/>
          </a:xfrm>
          <a:custGeom>
            <a:avLst/>
            <a:gdLst/>
            <a:ahLst/>
            <a:cxnLst/>
            <a:rect r="r" b="b" t="t" l="l"/>
            <a:pathLst>
              <a:path h="1006529" w="2013058">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841752" y="8492855"/>
            <a:ext cx="1006529" cy="1006529"/>
          </a:xfrm>
          <a:custGeom>
            <a:avLst/>
            <a:gdLst/>
            <a:ahLst/>
            <a:cxnLst/>
            <a:rect r="r" b="b" t="t" l="l"/>
            <a:pathLst>
              <a:path h="1006529" w="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true" flipV="true" rot="0">
            <a:off x="15487794" y="802897"/>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true" flipV="false" rot="-10800000">
            <a:off x="1841752" y="7486326"/>
            <a:ext cx="1006529" cy="1006529"/>
          </a:xfrm>
          <a:custGeom>
            <a:avLst/>
            <a:gdLst/>
            <a:ahLst/>
            <a:cxnLst/>
            <a:rect r="r" b="b" t="t" l="l"/>
            <a:pathLst>
              <a:path h="1006529" w="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true" rot="-10800000">
            <a:off x="15487794" y="1809426"/>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0" id="20"/>
          <p:cNvSpPr txBox="true"/>
          <p:nvPr/>
        </p:nvSpPr>
        <p:spPr>
          <a:xfrm rot="0">
            <a:off x="3090021" y="452033"/>
            <a:ext cx="11388123" cy="3082290"/>
          </a:xfrm>
          <a:prstGeom prst="rect">
            <a:avLst/>
          </a:prstGeom>
        </p:spPr>
        <p:txBody>
          <a:bodyPr anchor="t" rtlCol="false" tIns="0" lIns="0" bIns="0" rIns="0">
            <a:spAutoFit/>
          </a:bodyPr>
          <a:lstStyle/>
          <a:p>
            <a:pPr algn="ctr">
              <a:lnSpc>
                <a:spcPts val="7380"/>
              </a:lnSpc>
            </a:pPr>
            <a:r>
              <a:rPr lang="en-US" sz="9000">
                <a:solidFill>
                  <a:srgbClr val="262F43"/>
                </a:solidFill>
                <a:latin typeface="Impact"/>
                <a:ea typeface="Impact"/>
                <a:cs typeface="Impact"/>
                <a:sym typeface="Impact"/>
              </a:rPr>
              <a:t>PERBEDAAN ANTARA SKEMATIK (LOGIKA) DAN LAYOUT PCB (FISIK)</a:t>
            </a:r>
          </a:p>
        </p:txBody>
      </p:sp>
      <p:sp>
        <p:nvSpPr>
          <p:cNvPr name="TextBox 21" id="21"/>
          <p:cNvSpPr txBox="true"/>
          <p:nvPr/>
        </p:nvSpPr>
        <p:spPr>
          <a:xfrm rot="0">
            <a:off x="3369195" y="3774859"/>
            <a:ext cx="12118599" cy="5989955"/>
          </a:xfrm>
          <a:prstGeom prst="rect">
            <a:avLst/>
          </a:prstGeom>
        </p:spPr>
        <p:txBody>
          <a:bodyPr anchor="t" rtlCol="false" tIns="0" lIns="0" bIns="0" rIns="0">
            <a:spAutoFit/>
          </a:bodyPr>
          <a:lstStyle/>
          <a:p>
            <a:pPr algn="just">
              <a:lnSpc>
                <a:spcPts val="3220"/>
              </a:lnSpc>
            </a:pPr>
            <a:r>
              <a:rPr lang="en-US" sz="2300">
                <a:solidFill>
                  <a:srgbClr val="262F43"/>
                </a:solidFill>
                <a:latin typeface="Clear Sans"/>
                <a:ea typeface="Clear Sans"/>
                <a:cs typeface="Clear Sans"/>
                <a:sym typeface="Clear Sans"/>
              </a:rPr>
              <a:t>Perbedaan antara skematik (logika) dan layout PCB (fisik) terletak pada fungsi dan bentuk representasinya dalam perancangan rangkaian elektronik. Skematik adalah diagram logika yang menggambarkan hubungan listrik antar komponen seperti resistor, kapasitor, IC, dan transistor menggunakan simbol standar, sehingga fokusnya pada bagaimana rangkaian bekerja secara teori dan bagaimana komponen saling terhubung secara elektrik tanpa memperhatikan bentuk atau posisi nyata di papan. Skematik digunakan untuk memahami alur sinyal, analisis rangkaian, serta sebagai dasar pembuatan desain PCB. Sementara itu, layout PCB adalah representasi fisik dari skematik yang menunjukkan penempatan komponen secara nyata di atas papan serta jalur tembaga (trace) yang menghubungkannya; pada tahap ini diperhitungkan ukuran papan, lebar jalur, jarak antarjalur, ground plane, serta aspek teknis seperti arus dan manajemen panas. Singkatnya, skematik berfokus pada fungsi dan logika rangkaian, sedangkan layout PCB berfokus pada realisasi fisik dan tata letak agar rangkaian dapat diproduksi dan bekerja dengan baik.</a:t>
            </a:r>
          </a:p>
          <a:p>
            <a:pPr algn="just">
              <a:lnSpc>
                <a:spcPts val="3220"/>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0FAFF"/>
        </a:solidFill>
      </p:bgPr>
    </p:bg>
    <p:spTree>
      <p:nvGrpSpPr>
        <p:cNvPr id="1" name=""/>
        <p:cNvGrpSpPr/>
        <p:nvPr/>
      </p:nvGrpSpPr>
      <p:grpSpPr>
        <a:xfrm>
          <a:off x="0" y="0"/>
          <a:ext cx="0" cy="0"/>
          <a:chOff x="0" y="0"/>
          <a:chExt cx="0" cy="0"/>
        </a:xfrm>
      </p:grpSpPr>
      <p:sp>
        <p:nvSpPr>
          <p:cNvPr name="Freeform 2" id="2"/>
          <p:cNvSpPr/>
          <p:nvPr/>
        </p:nvSpPr>
        <p:spPr>
          <a:xfrm flipH="true" flipV="true" rot="0">
            <a:off x="-171306" y="9499384"/>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35223" y="9499384"/>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1306" y="8492855"/>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10800000">
            <a:off x="-171306" y="6479797"/>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171306" y="7486326"/>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true" rot="0">
            <a:off x="835223" y="6479797"/>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71306" y="5473268"/>
            <a:ext cx="2013058" cy="1006529"/>
          </a:xfrm>
          <a:custGeom>
            <a:avLst/>
            <a:gdLst/>
            <a:ahLst/>
            <a:cxnLst/>
            <a:rect r="r" b="b" t="t" l="l"/>
            <a:pathLst>
              <a:path h="1006529" w="2013058">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true" rot="-10800000">
            <a:off x="17500852" y="-203632"/>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10800000">
            <a:off x="15487794" y="-203632"/>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0800000">
            <a:off x="16494323" y="802897"/>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true" rot="0">
            <a:off x="17500852" y="2815955"/>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6494323" y="1809426"/>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true" rot="-10800000">
            <a:off x="16494323" y="2815955"/>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true" rot="0">
            <a:off x="16494323" y="3822484"/>
            <a:ext cx="2013058" cy="1006529"/>
          </a:xfrm>
          <a:custGeom>
            <a:avLst/>
            <a:gdLst/>
            <a:ahLst/>
            <a:cxnLst/>
            <a:rect r="r" b="b" t="t" l="l"/>
            <a:pathLst>
              <a:path h="1006529" w="2013058">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841752" y="8492855"/>
            <a:ext cx="1006529" cy="1006529"/>
          </a:xfrm>
          <a:custGeom>
            <a:avLst/>
            <a:gdLst/>
            <a:ahLst/>
            <a:cxnLst/>
            <a:rect r="r" b="b" t="t" l="l"/>
            <a:pathLst>
              <a:path h="1006529" w="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true" flipV="true" rot="0">
            <a:off x="15487794" y="802897"/>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true" flipV="false" rot="-10800000">
            <a:off x="1841752" y="7486326"/>
            <a:ext cx="1006529" cy="1006529"/>
          </a:xfrm>
          <a:custGeom>
            <a:avLst/>
            <a:gdLst/>
            <a:ahLst/>
            <a:cxnLst/>
            <a:rect r="r" b="b" t="t" l="l"/>
            <a:pathLst>
              <a:path h="1006529" w="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true" rot="-10800000">
            <a:off x="15487794" y="1809426"/>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0" id="20"/>
          <p:cNvSpPr txBox="true"/>
          <p:nvPr/>
        </p:nvSpPr>
        <p:spPr>
          <a:xfrm rot="0">
            <a:off x="2848281" y="843345"/>
            <a:ext cx="12168831" cy="1349374"/>
          </a:xfrm>
          <a:prstGeom prst="rect">
            <a:avLst/>
          </a:prstGeom>
        </p:spPr>
        <p:txBody>
          <a:bodyPr anchor="t" rtlCol="false" tIns="0" lIns="0" bIns="0" rIns="0">
            <a:spAutoFit/>
          </a:bodyPr>
          <a:lstStyle/>
          <a:p>
            <a:pPr algn="ctr">
              <a:lnSpc>
                <a:spcPts val="8199"/>
              </a:lnSpc>
            </a:pPr>
            <a:r>
              <a:rPr lang="en-US" sz="9999">
                <a:solidFill>
                  <a:srgbClr val="262F43"/>
                </a:solidFill>
                <a:latin typeface="Impact"/>
                <a:ea typeface="Impact"/>
                <a:cs typeface="Impact"/>
                <a:sym typeface="Impact"/>
              </a:rPr>
              <a:t>ALUR KERJA DESAIN PCB</a:t>
            </a:r>
          </a:p>
        </p:txBody>
      </p:sp>
      <p:sp>
        <p:nvSpPr>
          <p:cNvPr name="TextBox 21" id="21"/>
          <p:cNvSpPr txBox="true"/>
          <p:nvPr/>
        </p:nvSpPr>
        <p:spPr>
          <a:xfrm rot="0">
            <a:off x="3074086" y="3404235"/>
            <a:ext cx="13194431" cy="5854065"/>
          </a:xfrm>
          <a:prstGeom prst="rect">
            <a:avLst/>
          </a:prstGeom>
        </p:spPr>
        <p:txBody>
          <a:bodyPr anchor="t" rtlCol="false" tIns="0" lIns="0" bIns="0" rIns="0">
            <a:spAutoFit/>
          </a:bodyPr>
          <a:lstStyle/>
          <a:p>
            <a:pPr algn="l">
              <a:lnSpc>
                <a:spcPts val="3359"/>
              </a:lnSpc>
            </a:pPr>
            <a:r>
              <a:rPr lang="en-US" sz="2400">
                <a:solidFill>
                  <a:srgbClr val="262F43"/>
                </a:solidFill>
                <a:latin typeface="Clear Sans"/>
                <a:ea typeface="Clear Sans"/>
                <a:cs typeface="Clear Sans"/>
                <a:sym typeface="Clear Sans"/>
              </a:rPr>
              <a:t>Alur kerja desain PCB dimulai dari perencanaan kebutuhan sistem, yaitu menentukan fungsi rangkaian, spesifikasi tegangan dan arus, ukuran papan, serta komponen yang akan digunakan. Setelah itu dilakukan pembuatan skematik (schematic capture) untuk menggambar hubungan logika antar komponen sesuai prinsip kerja rangkaian. Jika skematik sudah benar dan dilakukan pengecekan (ERC – Electrical Rule Check), langkah berikutnya adalah mengubah skematik menjadi layout PCB, yaitu menentukan bentuk papan (board outline), menempatkan komponen (placement), dan menggambar jalur tembaga (routing) sesuai aturan desain seperti lebar jalur, jarak antarjalur, serta pertimbangan arus dan noise. Setelah proses routing selesai, dilakukan pemeriksaan desain (DRC – Design Rule Check) untuk memastikan tidak ada kesalahan teknis. Tahap selanjutnya adalah pembuatan file produksi (Gerber file) yang dikirim ke pabrik untuk proses fabrikasi PCB. Setelah PCB jadi, dilakukan perakitan komponen (assembly) dan pengujian untuk memastikan rangkaian bekerja sesuai perencanaan. Dengan mengikuti alur ini, desain PCB dapat dibuat secara sistematis, efisien, dan siap diproduksi.</a:t>
            </a:r>
          </a:p>
          <a:p>
            <a:pPr algn="l">
              <a:lnSpc>
                <a:spcPts val="335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0FAFF"/>
        </a:solidFill>
      </p:bgPr>
    </p:bg>
    <p:spTree>
      <p:nvGrpSpPr>
        <p:cNvPr id="1" name=""/>
        <p:cNvGrpSpPr/>
        <p:nvPr/>
      </p:nvGrpSpPr>
      <p:grpSpPr>
        <a:xfrm>
          <a:off x="0" y="0"/>
          <a:ext cx="0" cy="0"/>
          <a:chOff x="0" y="0"/>
          <a:chExt cx="0" cy="0"/>
        </a:xfrm>
      </p:grpSpPr>
      <p:sp>
        <p:nvSpPr>
          <p:cNvPr name="Freeform 2" id="2"/>
          <p:cNvSpPr/>
          <p:nvPr/>
        </p:nvSpPr>
        <p:spPr>
          <a:xfrm flipH="true" flipV="true" rot="0">
            <a:off x="-171306" y="9499384"/>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35223" y="9499384"/>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1306" y="8492855"/>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10800000">
            <a:off x="-171306" y="6479797"/>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171306" y="7486326"/>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true" rot="0">
            <a:off x="835223" y="6479797"/>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71306" y="5473268"/>
            <a:ext cx="2013058" cy="1006529"/>
          </a:xfrm>
          <a:custGeom>
            <a:avLst/>
            <a:gdLst/>
            <a:ahLst/>
            <a:cxnLst/>
            <a:rect r="r" b="b" t="t" l="l"/>
            <a:pathLst>
              <a:path h="1006529" w="2013058">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true" rot="-10800000">
            <a:off x="17500852" y="-203632"/>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10800000">
            <a:off x="15487794" y="-203632"/>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0800000">
            <a:off x="16494323" y="802897"/>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true" rot="0">
            <a:off x="17500852" y="2815955"/>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6494323" y="1809426"/>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true" rot="-10800000">
            <a:off x="16494323" y="2815955"/>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true" rot="0">
            <a:off x="16494323" y="3822484"/>
            <a:ext cx="2013058" cy="1006529"/>
          </a:xfrm>
          <a:custGeom>
            <a:avLst/>
            <a:gdLst/>
            <a:ahLst/>
            <a:cxnLst/>
            <a:rect r="r" b="b" t="t" l="l"/>
            <a:pathLst>
              <a:path h="1006529" w="2013058">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841752" y="8492855"/>
            <a:ext cx="1006529" cy="1006529"/>
          </a:xfrm>
          <a:custGeom>
            <a:avLst/>
            <a:gdLst/>
            <a:ahLst/>
            <a:cxnLst/>
            <a:rect r="r" b="b" t="t" l="l"/>
            <a:pathLst>
              <a:path h="1006529" w="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true" flipV="true" rot="0">
            <a:off x="15487794" y="802897"/>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true" flipV="false" rot="-10800000">
            <a:off x="1841752" y="7486326"/>
            <a:ext cx="1006529" cy="1006529"/>
          </a:xfrm>
          <a:custGeom>
            <a:avLst/>
            <a:gdLst/>
            <a:ahLst/>
            <a:cxnLst/>
            <a:rect r="r" b="b" t="t" l="l"/>
            <a:pathLst>
              <a:path h="1006529" w="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true" rot="-10800000">
            <a:off x="15487794" y="1809426"/>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0" id="20"/>
          <p:cNvSpPr txBox="true"/>
          <p:nvPr/>
        </p:nvSpPr>
        <p:spPr>
          <a:xfrm rot="0">
            <a:off x="3277382" y="1381104"/>
            <a:ext cx="10437990" cy="1793983"/>
          </a:xfrm>
          <a:prstGeom prst="rect">
            <a:avLst/>
          </a:prstGeom>
        </p:spPr>
        <p:txBody>
          <a:bodyPr anchor="t" rtlCol="false" tIns="0" lIns="0" bIns="0" rIns="0">
            <a:spAutoFit/>
          </a:bodyPr>
          <a:lstStyle/>
          <a:p>
            <a:pPr algn="ctr">
              <a:lnSpc>
                <a:spcPts val="10842"/>
              </a:lnSpc>
            </a:pPr>
            <a:r>
              <a:rPr lang="en-US" sz="13222">
                <a:solidFill>
                  <a:srgbClr val="262F43"/>
                </a:solidFill>
                <a:latin typeface="Impact"/>
                <a:ea typeface="Impact"/>
                <a:cs typeface="Impact"/>
                <a:sym typeface="Impact"/>
              </a:rPr>
              <a:t>APA ITU EASYEDA</a:t>
            </a:r>
          </a:p>
        </p:txBody>
      </p:sp>
      <p:sp>
        <p:nvSpPr>
          <p:cNvPr name="TextBox 21" id="21"/>
          <p:cNvSpPr txBox="true"/>
          <p:nvPr/>
        </p:nvSpPr>
        <p:spPr>
          <a:xfrm rot="0">
            <a:off x="3521809" y="3899261"/>
            <a:ext cx="9949136" cy="5989955"/>
          </a:xfrm>
          <a:prstGeom prst="rect">
            <a:avLst/>
          </a:prstGeom>
        </p:spPr>
        <p:txBody>
          <a:bodyPr anchor="t" rtlCol="false" tIns="0" lIns="0" bIns="0" rIns="0">
            <a:spAutoFit/>
          </a:bodyPr>
          <a:lstStyle/>
          <a:p>
            <a:pPr algn="l">
              <a:lnSpc>
                <a:spcPts val="3220"/>
              </a:lnSpc>
            </a:pPr>
            <a:r>
              <a:rPr lang="en-US" sz="2300">
                <a:solidFill>
                  <a:srgbClr val="262F43"/>
                </a:solidFill>
                <a:latin typeface="Clear Sans"/>
                <a:ea typeface="Clear Sans"/>
                <a:cs typeface="Clear Sans"/>
                <a:sym typeface="Clear Sans"/>
              </a:rPr>
              <a:t>EasyEDA adalah p</a:t>
            </a:r>
            <a:r>
              <a:rPr lang="en-US" sz="2300">
                <a:solidFill>
                  <a:srgbClr val="262F43"/>
                </a:solidFill>
                <a:latin typeface="Clear Sans"/>
                <a:ea typeface="Clear Sans"/>
                <a:cs typeface="Clear Sans"/>
                <a:sym typeface="Clear Sans"/>
              </a:rPr>
              <a:t>erangkat lunak berbasis web (dan juga tersedia versi desktop) yang digunakan untuk merancang rangkaian elektronik, mulai dari pembuatan skematik hingga layout PCB. EasyEDA termasuk dalam kategori EDA (Electronic Design Automation) dan banyak digunakan oleh pelajar, hobiis, hingga profesional karena mudah diakses, memiliki antarmuka yang sederhana, serta terintegrasi dengan layanan fabrikasi PCB dan perakitan komponen.</a:t>
            </a:r>
          </a:p>
          <a:p>
            <a:pPr algn="l">
              <a:lnSpc>
                <a:spcPts val="3220"/>
              </a:lnSpc>
            </a:pPr>
            <a:r>
              <a:rPr lang="en-US" sz="2300">
                <a:solidFill>
                  <a:srgbClr val="262F43"/>
                </a:solidFill>
                <a:latin typeface="Clear Sans"/>
                <a:ea typeface="Clear Sans"/>
                <a:cs typeface="Clear Sans"/>
                <a:sym typeface="Clear Sans"/>
              </a:rPr>
              <a:t>Dengan EasyEDA, pengguna dapat menggambar skematik, mengubahnya menjadi layout PCB, melakukan simulasi rangkaian (untuk komponen tertentu), melihat tampilan 3D papan, serta menghasilkan file produksi seperti Gerber untuk dikirim ke pabrik. Kelebihan utama EasyEDA adalah kemudahan penggunaan, tersedianya pustaka komponen yang luas, serta integrasi langsung dengan layanan manufaktur sehingga proses desain hingga produksi menjadi lebih praktis dan efisien.</a:t>
            </a:r>
          </a:p>
          <a:p>
            <a:pPr algn="l">
              <a:lnSpc>
                <a:spcPts val="3220"/>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0FAFF"/>
        </a:solidFill>
      </p:bgPr>
    </p:bg>
    <p:spTree>
      <p:nvGrpSpPr>
        <p:cNvPr id="1" name=""/>
        <p:cNvGrpSpPr/>
        <p:nvPr/>
      </p:nvGrpSpPr>
      <p:grpSpPr>
        <a:xfrm>
          <a:off x="0" y="0"/>
          <a:ext cx="0" cy="0"/>
          <a:chOff x="0" y="0"/>
          <a:chExt cx="0" cy="0"/>
        </a:xfrm>
      </p:grpSpPr>
      <p:sp>
        <p:nvSpPr>
          <p:cNvPr name="Freeform 2" id="2"/>
          <p:cNvSpPr/>
          <p:nvPr/>
        </p:nvSpPr>
        <p:spPr>
          <a:xfrm flipH="true" flipV="true" rot="0">
            <a:off x="-171306" y="9499384"/>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35223" y="9499384"/>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1306" y="8492855"/>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10800000">
            <a:off x="-171306" y="6479797"/>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171306" y="7486326"/>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true" rot="0">
            <a:off x="835223" y="6479797"/>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71306" y="5473268"/>
            <a:ext cx="2013058" cy="1006529"/>
          </a:xfrm>
          <a:custGeom>
            <a:avLst/>
            <a:gdLst/>
            <a:ahLst/>
            <a:cxnLst/>
            <a:rect r="r" b="b" t="t" l="l"/>
            <a:pathLst>
              <a:path h="1006529" w="2013058">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true" rot="-10800000">
            <a:off x="17500852" y="-203632"/>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10800000">
            <a:off x="15487794" y="-203632"/>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0800000">
            <a:off x="16494323" y="802897"/>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true" rot="0">
            <a:off x="17500852" y="2815955"/>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6494323" y="1809426"/>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true" rot="-10800000">
            <a:off x="16494323" y="2815955"/>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true" rot="0">
            <a:off x="16494323" y="3822484"/>
            <a:ext cx="2013058" cy="1006529"/>
          </a:xfrm>
          <a:custGeom>
            <a:avLst/>
            <a:gdLst/>
            <a:ahLst/>
            <a:cxnLst/>
            <a:rect r="r" b="b" t="t" l="l"/>
            <a:pathLst>
              <a:path h="1006529" w="2013058">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841752" y="8492855"/>
            <a:ext cx="1006529" cy="1006529"/>
          </a:xfrm>
          <a:custGeom>
            <a:avLst/>
            <a:gdLst/>
            <a:ahLst/>
            <a:cxnLst/>
            <a:rect r="r" b="b" t="t" l="l"/>
            <a:pathLst>
              <a:path h="1006529" w="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true" flipV="true" rot="0">
            <a:off x="15487794" y="802897"/>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true" flipV="false" rot="-10800000">
            <a:off x="1841752" y="7486326"/>
            <a:ext cx="1006529" cy="1006529"/>
          </a:xfrm>
          <a:custGeom>
            <a:avLst/>
            <a:gdLst/>
            <a:ahLst/>
            <a:cxnLst/>
            <a:rect r="r" b="b" t="t" l="l"/>
            <a:pathLst>
              <a:path h="1006529" w="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true" rot="-10800000">
            <a:off x="15487794" y="1809426"/>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0" id="20"/>
          <p:cNvSpPr txBox="true"/>
          <p:nvPr/>
        </p:nvSpPr>
        <p:spPr>
          <a:xfrm rot="0">
            <a:off x="4417854" y="931621"/>
            <a:ext cx="9159943" cy="2387599"/>
          </a:xfrm>
          <a:prstGeom prst="rect">
            <a:avLst/>
          </a:prstGeom>
        </p:spPr>
        <p:txBody>
          <a:bodyPr anchor="t" rtlCol="false" tIns="0" lIns="0" bIns="0" rIns="0">
            <a:spAutoFit/>
          </a:bodyPr>
          <a:lstStyle/>
          <a:p>
            <a:pPr algn="ctr">
              <a:lnSpc>
                <a:spcPts val="8199"/>
              </a:lnSpc>
            </a:pPr>
            <a:r>
              <a:rPr lang="en-US" sz="9999">
                <a:solidFill>
                  <a:srgbClr val="262F43"/>
                </a:solidFill>
                <a:latin typeface="Impact"/>
                <a:ea typeface="Impact"/>
                <a:cs typeface="Impact"/>
                <a:sym typeface="Impact"/>
              </a:rPr>
              <a:t>DESKRIPSI PCB YANG DIDESAIN</a:t>
            </a:r>
          </a:p>
        </p:txBody>
      </p:sp>
      <p:sp>
        <p:nvSpPr>
          <p:cNvPr name="TextBox 21" id="21"/>
          <p:cNvSpPr txBox="true"/>
          <p:nvPr/>
        </p:nvSpPr>
        <p:spPr>
          <a:xfrm rot="0">
            <a:off x="3550631" y="3157768"/>
            <a:ext cx="11498640" cy="5589905"/>
          </a:xfrm>
          <a:prstGeom prst="rect">
            <a:avLst/>
          </a:prstGeom>
        </p:spPr>
        <p:txBody>
          <a:bodyPr anchor="t" rtlCol="false" tIns="0" lIns="0" bIns="0" rIns="0">
            <a:spAutoFit/>
          </a:bodyPr>
          <a:lstStyle/>
          <a:p>
            <a:pPr algn="just">
              <a:lnSpc>
                <a:spcPts val="3220"/>
              </a:lnSpc>
            </a:pPr>
            <a:r>
              <a:rPr lang="en-US" sz="2300">
                <a:solidFill>
                  <a:srgbClr val="262F43"/>
                </a:solidFill>
                <a:latin typeface="Clear Sans"/>
                <a:ea typeface="Clear Sans"/>
                <a:cs typeface="Clear Sans"/>
                <a:sym typeface="Clear Sans"/>
              </a:rPr>
              <a:t>PCB yang akan di desain untuk robot line follower akan dirancang sebagai pusat kendali yang mengintegrasikan seluruh komponen elektronik agar robot dapat mendeteksi dan mengikuti garis secara otomatis. Pada papan ini biasanya terdapat mikrokontroler sebagai otak sistem, rangkaian sensor (seperti sensor infrared/photodiode) untuk membaca perbedaan warna garis dan latar, motor driver untuk mengendalikan kecepatan serta arah putaran motor DC, serta rangkaian catu daya untuk mengatur distribusi tegangan dari baterai ke seluruh komponen. Dalam proses desainnya, penempatan sensor dibuat sejajar di bagian depan agar pembacaan garis lebih akurat, sementara jalur power dan ground dirancang lebih lebar untuk menangani arus motor dan meminimalkan noise. Selain itu, tata letak komponen diatur agar ringkas, seimbang, dan tahan terhadap getaran saat robot bergerak. Dengan desain PCB yang baik, robot line follower dapat bekerja lebih stabil, responsif, dan efisien dalam mengikuti jalur yang telah ditentukan.</a:t>
            </a:r>
          </a:p>
          <a:p>
            <a:pPr algn="just">
              <a:lnSpc>
                <a:spcPts val="3220"/>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0FAFF"/>
        </a:solidFill>
      </p:bgPr>
    </p:bg>
    <p:spTree>
      <p:nvGrpSpPr>
        <p:cNvPr id="1" name=""/>
        <p:cNvGrpSpPr/>
        <p:nvPr/>
      </p:nvGrpSpPr>
      <p:grpSpPr>
        <a:xfrm>
          <a:off x="0" y="0"/>
          <a:ext cx="0" cy="0"/>
          <a:chOff x="0" y="0"/>
          <a:chExt cx="0" cy="0"/>
        </a:xfrm>
      </p:grpSpPr>
      <p:sp>
        <p:nvSpPr>
          <p:cNvPr name="Freeform 2" id="2"/>
          <p:cNvSpPr/>
          <p:nvPr/>
        </p:nvSpPr>
        <p:spPr>
          <a:xfrm flipH="true" flipV="true" rot="0">
            <a:off x="-171306" y="9499384"/>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35223" y="9499384"/>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1306" y="8492855"/>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10800000">
            <a:off x="-171306" y="6479797"/>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171306" y="7486326"/>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true" rot="0">
            <a:off x="835223" y="6479797"/>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71306" y="5473268"/>
            <a:ext cx="2013058" cy="1006529"/>
          </a:xfrm>
          <a:custGeom>
            <a:avLst/>
            <a:gdLst/>
            <a:ahLst/>
            <a:cxnLst/>
            <a:rect r="r" b="b" t="t" l="l"/>
            <a:pathLst>
              <a:path h="1006529" w="2013058">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true" rot="-10800000">
            <a:off x="17500852" y="-203632"/>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10800000">
            <a:off x="15487794" y="-203632"/>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0800000">
            <a:off x="16494323" y="802897"/>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true" rot="0">
            <a:off x="17500852" y="2815955"/>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6494323" y="1809426"/>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true" rot="-10800000">
            <a:off x="16494323" y="2815955"/>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true" rot="0">
            <a:off x="16494323" y="3822484"/>
            <a:ext cx="2013058" cy="1006529"/>
          </a:xfrm>
          <a:custGeom>
            <a:avLst/>
            <a:gdLst/>
            <a:ahLst/>
            <a:cxnLst/>
            <a:rect r="r" b="b" t="t" l="l"/>
            <a:pathLst>
              <a:path h="1006529" w="2013058">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841752" y="8492855"/>
            <a:ext cx="1006529" cy="1006529"/>
          </a:xfrm>
          <a:custGeom>
            <a:avLst/>
            <a:gdLst/>
            <a:ahLst/>
            <a:cxnLst/>
            <a:rect r="r" b="b" t="t" l="l"/>
            <a:pathLst>
              <a:path h="1006529" w="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true" flipV="true" rot="0">
            <a:off x="15487794" y="802897"/>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true" flipV="false" rot="-10800000">
            <a:off x="1841752" y="7486326"/>
            <a:ext cx="1006529" cy="1006529"/>
          </a:xfrm>
          <a:custGeom>
            <a:avLst/>
            <a:gdLst/>
            <a:ahLst/>
            <a:cxnLst/>
            <a:rect r="r" b="b" t="t" l="l"/>
            <a:pathLst>
              <a:path h="1006529" w="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true" rot="-10800000">
            <a:off x="15487794" y="1809426"/>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0" id="20"/>
          <p:cNvSpPr txBox="true"/>
          <p:nvPr/>
        </p:nvSpPr>
        <p:spPr>
          <a:xfrm rot="0">
            <a:off x="4802858" y="3125245"/>
            <a:ext cx="8682285" cy="4341311"/>
          </a:xfrm>
          <a:prstGeom prst="rect">
            <a:avLst/>
          </a:prstGeom>
        </p:spPr>
        <p:txBody>
          <a:bodyPr anchor="t" rtlCol="false" tIns="0" lIns="0" bIns="0" rIns="0">
            <a:spAutoFit/>
          </a:bodyPr>
          <a:lstStyle/>
          <a:p>
            <a:pPr algn="ctr">
              <a:lnSpc>
                <a:spcPts val="14853"/>
              </a:lnSpc>
            </a:pPr>
            <a:r>
              <a:rPr lang="en-US" sz="18114">
                <a:solidFill>
                  <a:srgbClr val="262F43"/>
                </a:solidFill>
                <a:latin typeface="Impact"/>
                <a:ea typeface="Impact"/>
                <a:cs typeface="Impact"/>
                <a:sym typeface="Impact"/>
              </a:rPr>
              <a:t>THANK</a:t>
            </a:r>
          </a:p>
          <a:p>
            <a:pPr algn="ctr">
              <a:lnSpc>
                <a:spcPts val="14853"/>
              </a:lnSpc>
            </a:pPr>
            <a:r>
              <a:rPr lang="en-US" sz="18114">
                <a:solidFill>
                  <a:srgbClr val="262F43"/>
                </a:solidFill>
                <a:latin typeface="Impact"/>
                <a:ea typeface="Impact"/>
                <a:cs typeface="Impact"/>
                <a:sym typeface="Impact"/>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DAHCkpWAoww</dc:identifier>
  <dcterms:modified xsi:type="dcterms:W3CDTF">2011-08-01T06:04:30Z</dcterms:modified>
  <cp:revision>1</cp:revision>
  <dc:title>Blue Simple Geometric Project Presentation</dc:title>
</cp:coreProperties>
</file>